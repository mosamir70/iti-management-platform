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BRANCH PORTAL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spc="500" kern="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BLUEPRINT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640080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4290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portal for Training Managers, Supervisors,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Assistants, Student Affairs &amp; Students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754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.NET Backend  ·  Angular Frontend  ·  Role-Based Access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326880" y="539496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0" y="5394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ITI Branch Portal is a unified web platform connecting 5 roles in a structured hierarchy.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.NET (backend) + Angular (frontend) with JWT-based authentication and RBAC.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Standalone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· Signals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9202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 · EF 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9202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· Seeding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19202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Roles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058400" y="192024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0" y="20116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Alerts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Inbox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78608" y="2606040"/>
            <a:ext cx="566928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7488" y="2606040"/>
            <a:ext cx="566928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16368" y="2606040"/>
            <a:ext cx="566928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85248" y="2606040"/>
            <a:ext cx="566928" cy="0"/>
          </a:xfrm>
          <a:prstGeom prst="line">
            <a:avLst/>
          </a:prstGeom>
          <a:noFill/>
          <a:ln w="19050">
            <a:solidFill>
              <a:srgbClr val="197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661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ROLES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Manager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402336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83464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3464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Owner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402336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00695C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0352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Assistant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Grades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402336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6A1B9A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Tracking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058400" y="4023360"/>
            <a:ext cx="2194560" cy="1417320"/>
          </a:xfrm>
          <a:prstGeom prst="roundRect">
            <a:avLst>
              <a:gd name="adj" fmla="val 7742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5840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Grades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Requests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USER MANAGEMENT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441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Admin/Training Manager creates accounts for all users. Students, Supervisors, TA, Student Affairs.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57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Logout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5000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issued on login. Refresh token support. Secure logout clears token.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0632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Assignment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35584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is assigned exactly one role. Role stored in JWT claims. RBAC enforced on every API endpoint.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6168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Email-based password reset link. Expiry token. Force-change on first login.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5029200"/>
            <a:ext cx="530352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5074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36752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expiry enforced. Auto-logout on expiry. Audit log of login events.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96012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MODEL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1417320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Name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984248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82512" y="1984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Email (unique, login)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551176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ECEFF1"/>
          </a:solidFill>
          <a:ln/>
        </p:spPr>
      </p:sp>
      <p:sp>
        <p:nvSpPr>
          <p:cNvPr id="25" name="Text 23"/>
          <p:cNvSpPr/>
          <p:nvPr/>
        </p:nvSpPr>
        <p:spPr>
          <a:xfrm>
            <a:off x="6382512" y="25511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Password (hashed)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118104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31181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685032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ECEFF1"/>
          </a:solidFill>
          <a:ln/>
        </p:spPr>
      </p:sp>
      <p:sp>
        <p:nvSpPr>
          <p:cNvPr id="29" name="Text 27"/>
          <p:cNvSpPr/>
          <p:nvPr/>
        </p:nvSpPr>
        <p:spPr>
          <a:xfrm>
            <a:off x="6382512" y="36850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National ID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1417320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25712" y="14173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Phone Number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1984248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ECEFF1"/>
          </a:solidFill>
          <a:ln/>
        </p:spPr>
      </p:sp>
      <p:sp>
        <p:nvSpPr>
          <p:cNvPr id="33" name="Text 31"/>
          <p:cNvSpPr/>
          <p:nvPr/>
        </p:nvSpPr>
        <p:spPr>
          <a:xfrm>
            <a:off x="9125712" y="19842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Profile Photo (optional)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52560" y="2551176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125712" y="25511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Assignment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052560" y="3118104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ECEFF1"/>
          </a:solidFill>
          <a:ln/>
        </p:spPr>
      </p:sp>
      <p:sp>
        <p:nvSpPr>
          <p:cNvPr id="37" name="Text 35"/>
          <p:cNvSpPr/>
          <p:nvPr/>
        </p:nvSpPr>
        <p:spPr>
          <a:xfrm>
            <a:off x="9125712" y="31181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Registration Date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52560" y="3685032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125712" y="36850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 Active flag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Identity + EF Core · JWT Bearer Auth · Role-based route guards in Angular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PERMISSIONS MATRIX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20040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66160" y="960120"/>
            <a:ext cx="155448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Tr. Manager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960120"/>
            <a:ext cx="155448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960120"/>
            <a:ext cx="155448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960120"/>
            <a:ext cx="155448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Affairs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84080" y="960120"/>
            <a:ext cx="1554480" cy="38404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0" y="960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344168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1344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Tracks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1344168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1344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1344168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1344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134416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1344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34416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1344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84080" y="134416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7" name="Text 25"/>
          <p:cNvSpPr/>
          <p:nvPr/>
        </p:nvSpPr>
        <p:spPr>
          <a:xfrm>
            <a:off x="9829800" y="13441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655064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16550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Courses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0" y="1655064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1655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165506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33" name="Text 31"/>
          <p:cNvSpPr/>
          <p:nvPr/>
        </p:nvSpPr>
        <p:spPr>
          <a:xfrm>
            <a:off x="5166360" y="1655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1655064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1655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1655064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1655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784080" y="1655064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39" name="Text 37"/>
          <p:cNvSpPr/>
          <p:nvPr/>
        </p:nvSpPr>
        <p:spPr>
          <a:xfrm>
            <a:off x="9829800" y="1655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1965960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19659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Course Hours (lec/lab/self)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66160" y="1965960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3" name="Text 41"/>
          <p:cNvSpPr/>
          <p:nvPr/>
        </p:nvSpPr>
        <p:spPr>
          <a:xfrm>
            <a:off x="3611880" y="1965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1965960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1965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75120" y="196596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7" name="Text 45"/>
          <p:cNvSpPr/>
          <p:nvPr/>
        </p:nvSpPr>
        <p:spPr>
          <a:xfrm>
            <a:off x="6720840" y="1965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229600" y="196596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9" name="Text 47"/>
          <p:cNvSpPr/>
          <p:nvPr/>
        </p:nvSpPr>
        <p:spPr>
          <a:xfrm>
            <a:off x="8275320" y="1965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784080" y="196596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51" name="Text 49"/>
          <p:cNvSpPr/>
          <p:nvPr/>
        </p:nvSpPr>
        <p:spPr>
          <a:xfrm>
            <a:off x="9829800" y="19659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2276856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11480" y="22768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Add/Publish Grades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566160" y="2276856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5" name="Text 53"/>
          <p:cNvSpPr/>
          <p:nvPr/>
        </p:nvSpPr>
        <p:spPr>
          <a:xfrm>
            <a:off x="3611880" y="22768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120640" y="227685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7" name="Text 55"/>
          <p:cNvSpPr/>
          <p:nvPr/>
        </p:nvSpPr>
        <p:spPr>
          <a:xfrm>
            <a:off x="5166360" y="22768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675120" y="227685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59" name="Text 57"/>
          <p:cNvSpPr/>
          <p:nvPr/>
        </p:nvSpPr>
        <p:spPr>
          <a:xfrm>
            <a:off x="6720840" y="22768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grades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9600" y="2276856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61" name="Text 59"/>
          <p:cNvSpPr/>
          <p:nvPr/>
        </p:nvSpPr>
        <p:spPr>
          <a:xfrm>
            <a:off x="8275320" y="22768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784080" y="227685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63" name="Text 61"/>
          <p:cNvSpPr/>
          <p:nvPr/>
        </p:nvSpPr>
        <p:spPr>
          <a:xfrm>
            <a:off x="9829800" y="227685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(published)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2587752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65" name="Text 63"/>
          <p:cNvSpPr/>
          <p:nvPr/>
        </p:nvSpPr>
        <p:spPr>
          <a:xfrm>
            <a:off x="411480" y="25877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Exam Dates &amp; Links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566160" y="2587752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7" name="Text 65"/>
          <p:cNvSpPr/>
          <p:nvPr/>
        </p:nvSpPr>
        <p:spPr>
          <a:xfrm>
            <a:off x="361188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0" y="2587752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69" name="Text 67"/>
          <p:cNvSpPr/>
          <p:nvPr/>
        </p:nvSpPr>
        <p:spPr>
          <a:xfrm>
            <a:off x="516636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2587752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1" name="Text 69"/>
          <p:cNvSpPr/>
          <p:nvPr/>
        </p:nvSpPr>
        <p:spPr>
          <a:xfrm>
            <a:off x="672084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229600" y="2587752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73" name="Text 71"/>
          <p:cNvSpPr/>
          <p:nvPr/>
        </p:nvSpPr>
        <p:spPr>
          <a:xfrm>
            <a:off x="827532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784080" y="2587752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75" name="Text 73"/>
          <p:cNvSpPr/>
          <p:nvPr/>
        </p:nvSpPr>
        <p:spPr>
          <a:xfrm>
            <a:off x="9829800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2898648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411480" y="28986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Exam – assign students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566160" y="2898648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9" name="Text 77"/>
          <p:cNvSpPr/>
          <p:nvPr/>
        </p:nvSpPr>
        <p:spPr>
          <a:xfrm>
            <a:off x="3611880" y="2898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120640" y="2898648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81" name="Text 79"/>
          <p:cNvSpPr/>
          <p:nvPr/>
        </p:nvSpPr>
        <p:spPr>
          <a:xfrm>
            <a:off x="5166360" y="2898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675120" y="289864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3" name="Text 81"/>
          <p:cNvSpPr/>
          <p:nvPr/>
        </p:nvSpPr>
        <p:spPr>
          <a:xfrm>
            <a:off x="6720840" y="2898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8229600" y="289864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5" name="Text 83"/>
          <p:cNvSpPr/>
          <p:nvPr/>
        </p:nvSpPr>
        <p:spPr>
          <a:xfrm>
            <a:off x="8275320" y="2898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784080" y="289864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87" name="Text 85"/>
          <p:cNvSpPr/>
          <p:nvPr/>
        </p:nvSpPr>
        <p:spPr>
          <a:xfrm>
            <a:off x="9829800" y="289864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65760" y="3209544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89" name="Text 87"/>
          <p:cNvSpPr/>
          <p:nvPr/>
        </p:nvSpPr>
        <p:spPr>
          <a:xfrm>
            <a:off x="411480" y="32095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Approve/Reject Absence Requests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566160" y="3209544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1" name="Text 89"/>
          <p:cNvSpPr/>
          <p:nvPr/>
        </p:nvSpPr>
        <p:spPr>
          <a:xfrm>
            <a:off x="3611880" y="32095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120640" y="320954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93" name="Text 91"/>
          <p:cNvSpPr/>
          <p:nvPr/>
        </p:nvSpPr>
        <p:spPr>
          <a:xfrm>
            <a:off x="5166360" y="32095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track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675120" y="3209544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95" name="Text 93"/>
          <p:cNvSpPr/>
          <p:nvPr/>
        </p:nvSpPr>
        <p:spPr>
          <a:xfrm>
            <a:off x="6720840" y="32095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8229600" y="320954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97" name="Text 95"/>
          <p:cNvSpPr/>
          <p:nvPr/>
        </p:nvSpPr>
        <p:spPr>
          <a:xfrm>
            <a:off x="8275320" y="32095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9784080" y="320954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99" name="Text 97"/>
          <p:cNvSpPr/>
          <p:nvPr/>
        </p:nvSpPr>
        <p:spPr>
          <a:xfrm>
            <a:off x="9829800" y="320954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365760" y="3520440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Text 99"/>
          <p:cNvSpPr/>
          <p:nvPr/>
        </p:nvSpPr>
        <p:spPr>
          <a:xfrm>
            <a:off x="411480" y="3520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Personal Data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566160" y="3520440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3" name="Text 101"/>
          <p:cNvSpPr/>
          <p:nvPr/>
        </p:nvSpPr>
        <p:spPr>
          <a:xfrm>
            <a:off x="361188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120640" y="352044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5" name="Text 103"/>
          <p:cNvSpPr/>
          <p:nvPr/>
        </p:nvSpPr>
        <p:spPr>
          <a:xfrm>
            <a:off x="516636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6675120" y="352044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7" name="Text 105"/>
          <p:cNvSpPr/>
          <p:nvPr/>
        </p:nvSpPr>
        <p:spPr>
          <a:xfrm>
            <a:off x="672084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229600" y="3520440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9" name="Text 107"/>
          <p:cNvSpPr/>
          <p:nvPr/>
        </p:nvSpPr>
        <p:spPr>
          <a:xfrm>
            <a:off x="827532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9784080" y="3520440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11" name="Text 109"/>
          <p:cNvSpPr/>
          <p:nvPr/>
        </p:nvSpPr>
        <p:spPr>
          <a:xfrm>
            <a:off x="9829800" y="35204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65760" y="3831336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13" name="Text 111"/>
          <p:cNvSpPr/>
          <p:nvPr/>
        </p:nvSpPr>
        <p:spPr>
          <a:xfrm>
            <a:off x="411480" y="38313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Student Grades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3566160" y="3831336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5" name="Text 113"/>
          <p:cNvSpPr/>
          <p:nvPr/>
        </p:nvSpPr>
        <p:spPr>
          <a:xfrm>
            <a:off x="3611880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5120640" y="383133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17" name="Text 115"/>
          <p:cNvSpPr/>
          <p:nvPr/>
        </p:nvSpPr>
        <p:spPr>
          <a:xfrm>
            <a:off x="5166360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675120" y="3831336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19" name="Text 117"/>
          <p:cNvSpPr/>
          <p:nvPr/>
        </p:nvSpPr>
        <p:spPr>
          <a:xfrm>
            <a:off x="6720840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8229600" y="3831336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21" name="Text 119"/>
          <p:cNvSpPr/>
          <p:nvPr/>
        </p:nvSpPr>
        <p:spPr>
          <a:xfrm>
            <a:off x="8275320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9784080" y="383133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23" name="Text 121"/>
          <p:cNvSpPr/>
          <p:nvPr/>
        </p:nvSpPr>
        <p:spPr>
          <a:xfrm>
            <a:off x="9829800" y="38313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(published)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365760" y="4142232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5" name="Text 123"/>
          <p:cNvSpPr/>
          <p:nvPr/>
        </p:nvSpPr>
        <p:spPr>
          <a:xfrm>
            <a:off x="411480" y="4142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Absence Records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3566160" y="4142232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7" name="Text 125"/>
          <p:cNvSpPr/>
          <p:nvPr/>
        </p:nvSpPr>
        <p:spPr>
          <a:xfrm>
            <a:off x="361188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5120640" y="4142232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29" name="Text 127"/>
          <p:cNvSpPr/>
          <p:nvPr/>
        </p:nvSpPr>
        <p:spPr>
          <a:xfrm>
            <a:off x="516636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track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6675120" y="4142232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31" name="Text 129"/>
          <p:cNvSpPr/>
          <p:nvPr/>
        </p:nvSpPr>
        <p:spPr>
          <a:xfrm>
            <a:off x="672084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8229600" y="4142232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3" name="Text 131"/>
          <p:cNvSpPr/>
          <p:nvPr/>
        </p:nvSpPr>
        <p:spPr>
          <a:xfrm>
            <a:off x="827532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9784080" y="4142232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35" name="Text 133"/>
          <p:cNvSpPr/>
          <p:nvPr/>
        </p:nvSpPr>
        <p:spPr>
          <a:xfrm>
            <a:off x="9829800" y="414223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365760" y="4453128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7" name="Text 135"/>
          <p:cNvSpPr/>
          <p:nvPr/>
        </p:nvSpPr>
        <p:spPr>
          <a:xfrm>
            <a:off x="411480" y="44531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KPI – Certificates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566160" y="4453128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39" name="Text 137"/>
          <p:cNvSpPr/>
          <p:nvPr/>
        </p:nvSpPr>
        <p:spPr>
          <a:xfrm>
            <a:off x="3611880" y="4453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5120640" y="4453128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41" name="Text 139"/>
          <p:cNvSpPr/>
          <p:nvPr/>
        </p:nvSpPr>
        <p:spPr>
          <a:xfrm>
            <a:off x="5166360" y="4453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track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6675120" y="4453128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43" name="Text 141"/>
          <p:cNvSpPr/>
          <p:nvPr/>
        </p:nvSpPr>
        <p:spPr>
          <a:xfrm>
            <a:off x="6720840" y="4453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8229600" y="4453128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45" name="Text 143"/>
          <p:cNvSpPr/>
          <p:nvPr/>
        </p:nvSpPr>
        <p:spPr>
          <a:xfrm>
            <a:off x="8275320" y="4453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9784080" y="4453128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47" name="Text 145"/>
          <p:cNvSpPr/>
          <p:nvPr/>
        </p:nvSpPr>
        <p:spPr>
          <a:xfrm>
            <a:off x="9829800" y="445312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365760" y="4764024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9" name="Text 147"/>
          <p:cNvSpPr/>
          <p:nvPr/>
        </p:nvSpPr>
        <p:spPr>
          <a:xfrm>
            <a:off x="411480" y="4764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KPI – Freelance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3566160" y="4764024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1" name="Text 149"/>
          <p:cNvSpPr/>
          <p:nvPr/>
        </p:nvSpPr>
        <p:spPr>
          <a:xfrm>
            <a:off x="3611880" y="4764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5120640" y="476402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53" name="Text 151"/>
          <p:cNvSpPr/>
          <p:nvPr/>
        </p:nvSpPr>
        <p:spPr>
          <a:xfrm>
            <a:off x="5166360" y="4764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6675120" y="4764024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55" name="Text 153"/>
          <p:cNvSpPr/>
          <p:nvPr/>
        </p:nvSpPr>
        <p:spPr>
          <a:xfrm>
            <a:off x="6720840" y="4764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8229600" y="476402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57" name="Text 155"/>
          <p:cNvSpPr/>
          <p:nvPr/>
        </p:nvSpPr>
        <p:spPr>
          <a:xfrm>
            <a:off x="8275320" y="4764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9784080" y="4764024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59" name="Text 157"/>
          <p:cNvSpPr/>
          <p:nvPr/>
        </p:nvSpPr>
        <p:spPr>
          <a:xfrm>
            <a:off x="9829800" y="476402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+ proof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365760" y="5074920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61" name="Text 159"/>
          <p:cNvSpPr/>
          <p:nvPr/>
        </p:nvSpPr>
        <p:spPr>
          <a:xfrm>
            <a:off x="411480" y="5074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KPIs</a:t>
            </a:r>
            <a:endParaRPr lang="en-US" sz="1000" dirty="0"/>
          </a:p>
        </p:txBody>
      </p:sp>
      <p:sp>
        <p:nvSpPr>
          <p:cNvPr id="162" name="Shape 160"/>
          <p:cNvSpPr/>
          <p:nvPr/>
        </p:nvSpPr>
        <p:spPr>
          <a:xfrm>
            <a:off x="3566160" y="5074920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3" name="Text 161"/>
          <p:cNvSpPr/>
          <p:nvPr/>
        </p:nvSpPr>
        <p:spPr>
          <a:xfrm>
            <a:off x="3611880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5120640" y="5074920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5" name="Text 163"/>
          <p:cNvSpPr/>
          <p:nvPr/>
        </p:nvSpPr>
        <p:spPr>
          <a:xfrm>
            <a:off x="5166360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6675120" y="507492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67" name="Text 165"/>
          <p:cNvSpPr/>
          <p:nvPr/>
        </p:nvSpPr>
        <p:spPr>
          <a:xfrm>
            <a:off x="6720840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8229600" y="5074920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69" name="Text 167"/>
          <p:cNvSpPr/>
          <p:nvPr/>
        </p:nvSpPr>
        <p:spPr>
          <a:xfrm>
            <a:off x="8275320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status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9784080" y="5074920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71" name="Text 169"/>
          <p:cNvSpPr/>
          <p:nvPr/>
        </p:nvSpPr>
        <p:spPr>
          <a:xfrm>
            <a:off x="9829800" y="5074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365760" y="5385816"/>
            <a:ext cx="320040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Text 171"/>
          <p:cNvSpPr/>
          <p:nvPr/>
        </p:nvSpPr>
        <p:spPr>
          <a:xfrm>
            <a:off x="411480" y="53858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any track/course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3566160" y="5385816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5" name="Text 173"/>
          <p:cNvSpPr/>
          <p:nvPr/>
        </p:nvSpPr>
        <p:spPr>
          <a:xfrm>
            <a:off x="3611880" y="5385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5120640" y="538581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77" name="Text 175"/>
          <p:cNvSpPr/>
          <p:nvPr/>
        </p:nvSpPr>
        <p:spPr>
          <a:xfrm>
            <a:off x="5166360" y="5385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only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6675120" y="538581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79" name="Text 177"/>
          <p:cNvSpPr/>
          <p:nvPr/>
        </p:nvSpPr>
        <p:spPr>
          <a:xfrm>
            <a:off x="6720840" y="5385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8229600" y="5385816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81" name="Text 179"/>
          <p:cNvSpPr/>
          <p:nvPr/>
        </p:nvSpPr>
        <p:spPr>
          <a:xfrm>
            <a:off x="8275320" y="5385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82" name="Shape 180"/>
          <p:cNvSpPr/>
          <p:nvPr/>
        </p:nvSpPr>
        <p:spPr>
          <a:xfrm>
            <a:off x="9784080" y="5385816"/>
            <a:ext cx="1554480" cy="310896"/>
          </a:xfrm>
          <a:prstGeom prst="rect">
            <a:avLst/>
          </a:prstGeom>
          <a:solidFill>
            <a:srgbClr val="FFF9C4"/>
          </a:solidFill>
          <a:ln/>
        </p:spPr>
      </p:sp>
      <p:sp>
        <p:nvSpPr>
          <p:cNvPr id="183" name="Text 181"/>
          <p:cNvSpPr/>
          <p:nvPr/>
        </p:nvSpPr>
        <p:spPr>
          <a:xfrm>
            <a:off x="9829800" y="53858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365760" y="5696712"/>
            <a:ext cx="3200400" cy="310896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85" name="Text 183"/>
          <p:cNvSpPr/>
          <p:nvPr/>
        </p:nvSpPr>
        <p:spPr>
          <a:xfrm>
            <a:off x="411480" y="5696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 / User Mgmt</a:t>
            </a:r>
            <a:endParaRPr lang="en-US" sz="1000" dirty="0"/>
          </a:p>
        </p:txBody>
      </p:sp>
      <p:sp>
        <p:nvSpPr>
          <p:cNvPr id="186" name="Shape 184"/>
          <p:cNvSpPr/>
          <p:nvPr/>
        </p:nvSpPr>
        <p:spPr>
          <a:xfrm>
            <a:off x="3566160" y="5696712"/>
            <a:ext cx="1554480" cy="31089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7" name="Text 185"/>
          <p:cNvSpPr/>
          <p:nvPr/>
        </p:nvSpPr>
        <p:spPr>
          <a:xfrm>
            <a:off x="3611880" y="5696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88" name="Shape 186"/>
          <p:cNvSpPr/>
          <p:nvPr/>
        </p:nvSpPr>
        <p:spPr>
          <a:xfrm>
            <a:off x="5120640" y="5696712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89" name="Text 187"/>
          <p:cNvSpPr/>
          <p:nvPr/>
        </p:nvSpPr>
        <p:spPr>
          <a:xfrm>
            <a:off x="5166360" y="5696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90" name="Shape 188"/>
          <p:cNvSpPr/>
          <p:nvPr/>
        </p:nvSpPr>
        <p:spPr>
          <a:xfrm>
            <a:off x="6675120" y="5696712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91" name="Text 189"/>
          <p:cNvSpPr/>
          <p:nvPr/>
        </p:nvSpPr>
        <p:spPr>
          <a:xfrm>
            <a:off x="6720840" y="5696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92" name="Shape 190"/>
          <p:cNvSpPr/>
          <p:nvPr/>
        </p:nvSpPr>
        <p:spPr>
          <a:xfrm>
            <a:off x="8229600" y="5696712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93" name="Text 191"/>
          <p:cNvSpPr/>
          <p:nvPr/>
        </p:nvSpPr>
        <p:spPr>
          <a:xfrm>
            <a:off x="8275320" y="5696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94" name="Shape 192"/>
          <p:cNvSpPr/>
          <p:nvPr/>
        </p:nvSpPr>
        <p:spPr>
          <a:xfrm>
            <a:off x="9784080" y="5696712"/>
            <a:ext cx="1554480" cy="310896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95" name="Text 193"/>
          <p:cNvSpPr/>
          <p:nvPr/>
        </p:nvSpPr>
        <p:spPr>
          <a:xfrm>
            <a:off x="9829800" y="5696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</a:t>
            </a:r>
            <a:endParaRPr lang="en-US" sz="1000" dirty="0"/>
          </a:p>
        </p:txBody>
      </p:sp>
      <p:sp>
        <p:nvSpPr>
          <p:cNvPr id="196" name="Text 194"/>
          <p:cNvSpPr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= Full Access   Own only = Restricted to own records   ✘ = No Access   Yellow = Partial/Conditional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&amp; COURSES MODULE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394960" cy="5394960"/>
          </a:xfrm>
          <a:prstGeom prst="roundRect">
            <a:avLst>
              <a:gd name="adj" fmla="val 25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Name: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per supervisor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47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9476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or manual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3865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supervisor per track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25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Assistants: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8254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TAs per track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64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264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per course (not a role)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list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1422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Required: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1422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KPI flag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5811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KPI Required: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45811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KPI flag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020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50200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Archived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58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5458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field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960120"/>
            <a:ext cx="5394960" cy="5394960"/>
          </a:xfrm>
          <a:prstGeom prst="roundRect">
            <a:avLst>
              <a:gd name="adj" fmla="val 25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10515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1540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descriptive name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46520" y="19476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915400" y="1947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38658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15400" y="23865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track reference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46520" y="28254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Name: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28254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 (not a role)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32644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Hours: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915400" y="3264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4652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Hours: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91540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4142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Hours: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41422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4581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Mode: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915400" y="4581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/ Absence / Labs+Abs / Exam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502005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Required: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915400" y="50200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or override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46520" y="5458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Published: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54589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+ date + link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46520" y="5897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915400" y="5897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Archived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supervisor per track. Multiple courses per track. Instructor is a text attribute, not a system role.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MODULE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MODES  (set per course by Supervisor)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50876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Only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exam or assignment mark. Supervisor enters final grade.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4475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150876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+ Grades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0128" y="1920240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combined with attendance percentage. Both affect final result.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144475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150876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+ Absence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4768" y="1920240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enters lab grades. Supervisor or TA records attendance.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69680" y="144475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79408" y="150876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Mode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79408" y="1920240"/>
            <a:ext cx="2386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publishes exam date + optional link. Corrective exam for specific students.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FLOW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97280" y="3566160"/>
            <a:ext cx="749808" cy="749808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566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4407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enters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grades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47088" y="3941064"/>
            <a:ext cx="80467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3280" y="3566160"/>
            <a:ext cx="749808" cy="74980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566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51760" y="4407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enters exam/other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33088" y="3941064"/>
            <a:ext cx="80467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3566160"/>
            <a:ext cx="749808" cy="749808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0" y="3566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37760" y="4407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19088" y="3941064"/>
            <a:ext cx="80467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3566160"/>
            <a:ext cx="749808" cy="74980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3566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223760" y="4407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705088" y="3941064"/>
            <a:ext cx="804672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3566160"/>
            <a:ext cx="749808" cy="74980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5" name="Text 33"/>
          <p:cNvSpPr/>
          <p:nvPr/>
        </p:nvSpPr>
        <p:spPr>
          <a:xfrm>
            <a:off x="10241280" y="3566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509760" y="440740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view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525780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RECORD FIELDS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565099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5650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565099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41" name="Text 39"/>
          <p:cNvSpPr/>
          <p:nvPr/>
        </p:nvSpPr>
        <p:spPr>
          <a:xfrm>
            <a:off x="2697480" y="5650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565099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5650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Grade (TA)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223760" y="565099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45" name="Text 43"/>
          <p:cNvSpPr/>
          <p:nvPr/>
        </p:nvSpPr>
        <p:spPr>
          <a:xfrm>
            <a:off x="7269480" y="5650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Grade (Supervisor)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509760" y="5650992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47" name="Text 45"/>
          <p:cNvSpPr/>
          <p:nvPr/>
        </p:nvSpPr>
        <p:spPr>
          <a:xfrm>
            <a:off x="9555480" y="5650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Grade (computed)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6035040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49" name="Text 47"/>
          <p:cNvSpPr/>
          <p:nvPr/>
        </p:nvSpPr>
        <p:spPr>
          <a:xfrm>
            <a:off x="411480" y="6035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51760" y="6035040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51" name="Text 49"/>
          <p:cNvSpPr/>
          <p:nvPr/>
        </p:nvSpPr>
        <p:spPr>
          <a:xfrm>
            <a:off x="2697480" y="6035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Mode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37760" y="6035040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53" name="Text 51"/>
          <p:cNvSpPr/>
          <p:nvPr/>
        </p:nvSpPr>
        <p:spPr>
          <a:xfrm>
            <a:off x="4983480" y="6035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Published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23760" y="6035040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55" name="Text 53"/>
          <p:cNvSpPr/>
          <p:nvPr/>
        </p:nvSpPr>
        <p:spPr>
          <a:xfrm>
            <a:off x="7269480" y="6035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Date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509760" y="6035040"/>
            <a:ext cx="2103120" cy="329184"/>
          </a:xfrm>
          <a:prstGeom prst="roundRect">
            <a:avLst>
              <a:gd name="adj" fmla="val 19444"/>
            </a:avLst>
          </a:prstGeom>
          <a:solidFill>
            <a:srgbClr val="ECEFF1"/>
          </a:solidFill>
          <a:ln/>
        </p:spPr>
      </p:sp>
      <p:sp>
        <p:nvSpPr>
          <p:cNvPr id="57" name="Text 55"/>
          <p:cNvSpPr/>
          <p:nvPr/>
        </p:nvSpPr>
        <p:spPr>
          <a:xfrm>
            <a:off x="9555480" y="6035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ABSENCE MODULE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33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Absence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 virtual/remote sessions. Supervisor or TA marks via portal.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404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Absence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 on-site sessions. Student Affairs or TA records manually.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776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Pre-approved Request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advance absence request with reason. Supervisor approves/rejects.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516636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5230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Request Flow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623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Supervisor reviews → </a:t>
            </a:r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Student Affairs can view decision status in portal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96012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RECORD FIELDS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17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to student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96596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965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95360" y="19659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to course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51460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5146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25146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session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06324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0632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30632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Offline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61188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611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Absent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36118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16052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1605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Request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41605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if pre-approved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70916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3F2F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7091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By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595360" y="47091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/ Supervisor / SA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63640" y="5257800"/>
            <a:ext cx="5440680" cy="438912"/>
          </a:xfrm>
          <a:prstGeom prst="roundRect">
            <a:avLst>
              <a:gd name="adj" fmla="val 16667"/>
            </a:avLst>
          </a:prstGeom>
          <a:solidFill>
            <a:srgbClr val="ECEFF1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5257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0" y="52578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free text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58978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REQUEST FIELDS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6309360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EC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6309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92440" y="6309360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ECEFF1"/>
          </a:solidFill>
          <a:ln/>
        </p:spPr>
      </p:sp>
      <p:sp>
        <p:nvSpPr>
          <p:cNvPr id="45" name="Text 43"/>
          <p:cNvSpPr/>
          <p:nvPr/>
        </p:nvSpPr>
        <p:spPr>
          <a:xfrm>
            <a:off x="8138160" y="6309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Date(s) requested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921240" y="6309360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ECEFF1"/>
          </a:solidFill>
          <a:ln/>
        </p:spPr>
      </p:sp>
      <p:sp>
        <p:nvSpPr>
          <p:cNvPr id="47" name="Text 45"/>
          <p:cNvSpPr/>
          <p:nvPr/>
        </p:nvSpPr>
        <p:spPr>
          <a:xfrm>
            <a:off x="9966960" y="6309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/ Description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6720840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ECEFF1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6720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092440" y="6720840"/>
            <a:ext cx="1691640" cy="347472"/>
          </a:xfrm>
          <a:prstGeom prst="roundRect">
            <a:avLst>
              <a:gd name="adj" fmla="val 18421"/>
            </a:avLst>
          </a:prstGeom>
          <a:solidFill>
            <a:srgbClr val="ECEFF1"/>
          </a:solidFill>
          <a:ln/>
        </p:spPr>
      </p:sp>
      <p:sp>
        <p:nvSpPr>
          <p:cNvPr id="51" name="Text 49"/>
          <p:cNvSpPr/>
          <p:nvPr/>
        </p:nvSpPr>
        <p:spPr>
          <a:xfrm>
            <a:off x="8138160" y="6720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Decision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 NOTIFICATIONS MODULE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RECORD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23160" y="14173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course exam belongs 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Type: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/ Corrective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231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4231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260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Link: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9260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(online exams)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290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23160" y="34290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online platform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3192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Published: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23160" y="39319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toggle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43484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4348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Students: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23160" y="44348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/ specific list (corrective)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93776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9377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(mins):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23160" y="49377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duration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440680"/>
            <a:ext cx="530352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4406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5440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instructions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96012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0" y="141732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55080" y="17556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Recipients: All enrolled students  |  Trigger: Supervisor publishes exam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224028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55080" y="2286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Exam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2578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Recipients: Specific students only  |  Trigger: Supervisor selects students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306324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55080" y="3108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Published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55080" y="34015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Recipients: Enrolled students  |  Trigger: Supervisor publishes grades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88620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55080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Request Update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42245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Recipients: Student  |  Trigger: Supervisor approves/rejects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470916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55080" y="4754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Approval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55080" y="5047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Recipients: Student  |  Trigger: Supervisor approves KPI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5532120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55080" y="5577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Announcement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355080" y="58704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Recipients: Track / Course members  |  Trigger: Supervisor / TM posts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stored in DB. Student views notification list in portal. Future: email/push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MODULE — CERTIFICATES &amp; FREELANCE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394960" cy="5577840"/>
          </a:xfrm>
          <a:prstGeom prst="roundRect">
            <a:avLst>
              <a:gd name="adj" fmla="val 2542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CERTIFICATE KPI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(by Supervisor):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certificate KPI per track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per individual course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 both (track-level + course-level)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9067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required certificate types / names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Submission Fields: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950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Name: Title of cert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334256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3342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Body: e.g. Coursera, AWS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718304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7183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Date: Date received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102352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51023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Date: If applicable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5486400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4864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File: Upload (PDF/image)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5870448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58704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Track/Course Link: Which requirement met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960120"/>
            <a:ext cx="5394960" cy="5577840"/>
          </a:xfrm>
          <a:prstGeom prst="roundRect">
            <a:avLst>
              <a:gd name="adj" fmla="val 25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1051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FREELANCE KPI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15727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(by Supervisor):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19385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freelance KPI per track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232257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per individual course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70662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 both (track-level + course-level)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309067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target count (e.g. 1 project minimum)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56616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Submission Fields: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46520" y="3950208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39502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Title: Name of project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46520" y="4334256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43342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Contact: Name + email/phone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46520" y="4718304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47183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Used: e.g. Upwork, Fiverr, Direct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46520" y="5102352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51023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Proof: Screenshot upload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46520" y="5486400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54864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Description: What was done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46520" y="5870448"/>
            <a:ext cx="5029200" cy="329184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537960" y="58704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Earned: Optional (EGP)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Status: Pending → Supervisor Reviews → Approved / Rejected → Student Affairs can view status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 — FEATURES &amp; DASHBOARD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8755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9728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Course 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58191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full course list for own track. Lecture, lab &amp; self-study hours. Course mode &amp; instructor.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98755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28416" y="109728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My Grades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28416" y="158191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grades after supervisor publishes. Shows per-course breakdown (lab, exam, total).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71616" y="98755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81344" y="109728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Attendance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81344" y="158191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absence count per course. Online/offline split. Percentage vs allowed threshold.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24544" y="98755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34272" y="109728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Absence Request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34272" y="158191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advance absence request with date range and reason. Track approval status.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9359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70332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" y="418795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dates, grade releases, KPI decisions, corrective exam alerts. Inbox-style list.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359359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28416" y="370332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Certificate KPI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28416" y="418795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certificate with upload. View approval status.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71616" y="359359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81344" y="370332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Freelance KPI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418795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project with payment proof screenshot. Client details, platform, description.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24544" y="3593592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34272" y="3703320"/>
            <a:ext cx="2478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My Profile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034272" y="4187952"/>
            <a:ext cx="2478024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data. Contact details, track, enrollment date.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 MODULE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Access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personal data: name, ID, phone, email, photo, enrollment date, track. No grade access.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96012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051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Table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any student's track course list. Hours breakdown. Course info. Does not see grades.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651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total absences per student per course. Online and offline split. Compare to threshold.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26517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Request Visibility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3063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submitted absence requests and supervisor decisions. Cannot approve themselves.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251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Status 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submitted KPIs (certificates, freelance). View supervisor approval status.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577840" cy="1417320"/>
          </a:xfrm>
          <a:prstGeom prst="roundRect">
            <a:avLst>
              <a:gd name="adj" fmla="val 7742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42519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Search &amp; Filter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4663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track, ID. Filter by absence risk. Export reports.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760720"/>
            <a:ext cx="11430000" cy="868680"/>
          </a:xfrm>
          <a:prstGeom prst="roundRect">
            <a:avLst>
              <a:gd name="adj" fmla="val 10526"/>
            </a:avLst>
          </a:prstGeom>
          <a:solidFill>
            <a:srgbClr val="E3F2F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8064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ACCESS RESTRICTION — Student Affairs CANNOT see: Student grades (published or unpublished) · Exam scores · Corrective exam details · Internal supervisor notes on grading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ASSISTANT MODULE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Assistants are assigned to a track by the Supervisor. They assist with specific courses. Multiple TAs per track.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691640"/>
            <a:ext cx="3392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Lab Grades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2167128"/>
            <a:ext cx="3392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 update lab grades for students in assigned course(s). Grade visible to supervisor before publishing.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6002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1691640"/>
            <a:ext cx="3392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Attendance Recording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15968" y="2167128"/>
            <a:ext cx="3392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online and offline absence for students in assigned course(s). Add notes per session.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56448" y="1691640"/>
            <a:ext cx="3392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Course 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56448" y="2167128"/>
            <a:ext cx="3392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course information (hours, mode, instructor). Read-only access to course config.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977640"/>
            <a:ext cx="3392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  Absence Requests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" y="4453128"/>
            <a:ext cx="3392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optionally approve absence requests for students in assigned courses (if supervisor delegates).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38862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15968" y="3977640"/>
            <a:ext cx="3392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Student 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15968" y="4453128"/>
            <a:ext cx="3392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list of students enrolled in track. Basic profile. No access to grades set by supervisor.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3886200"/>
            <a:ext cx="3611880" cy="2011680"/>
          </a:xfrm>
          <a:prstGeom prst="roundRect">
            <a:avLst>
              <a:gd name="adj" fmla="val 5455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56448" y="3977640"/>
            <a:ext cx="3392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56448" y="4453128"/>
            <a:ext cx="339242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notifications for assigned courses. View exam dates published by supervisor.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6217920"/>
            <a:ext cx="11430000" cy="502920"/>
          </a:xfrm>
          <a:prstGeom prst="roundRect">
            <a:avLst>
              <a:gd name="adj" fmla="val 16364"/>
            </a:avLst>
          </a:prstGeom>
          <a:solidFill>
            <a:srgbClr val="ECEFF1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623620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CANNOT: Create/edit tracks or courses · Publish grades · Access other tracks · Approve KPIs · View student personal data (only name)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MANAGER — SUPER ADMIN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332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All Tracks &amp; Courses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4356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read/write access to every track and course, regardless of supervisor.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9601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0332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Grade Access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15968" y="14356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edit any student grade across all courses. Can publish grades on behalf of supervisor.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46720" y="9601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6448" y="10332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56448" y="14356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deactivate all user accounts. Assign roles. Reset passwords.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" y="28620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KPI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2644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KPIs. Approve or reject. Override supervisor decisions if needed.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27889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15968" y="28620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Attendance Oversight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32644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absence records for all tracks and courses. Generate absence reports.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46720" y="27889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56448" y="28620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Exam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56448" y="32644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or edit exam dates across all courses. Manage corrective exams.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177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46908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Notification Broadcast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50932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system-wide or targeted notifications to any role or group.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06240" y="46177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15968" y="46908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Reports &amp; Analytics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15968" y="50932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grade distributions, absence rates, KPI completion, track progress.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46720" y="4617720"/>
            <a:ext cx="3611880" cy="1627632"/>
          </a:xfrm>
          <a:prstGeom prst="roundRect">
            <a:avLst>
              <a:gd name="adj" fmla="val 6742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56448" y="4690872"/>
            <a:ext cx="3392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System Configuration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56448" y="5093208"/>
            <a:ext cx="33924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platform settings, academic calendar, thresholds, KPI requirements.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6464808"/>
            <a:ext cx="11430000" cy="365760"/>
          </a:xfrm>
          <a:prstGeom prst="roundRect">
            <a:avLst>
              <a:gd name="adj" fmla="val 20000"/>
            </a:avLst>
          </a:prstGeom>
          <a:solidFill>
            <a:srgbClr val="0A2342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647395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Manager inherits ALL permissions of Supervisor + Student Affairs + TA roles. No restrictions on any module.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ENTITY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97480" cy="2679192"/>
          </a:xfrm>
          <a:prstGeom prst="roundRect">
            <a:avLst>
              <a:gd name="adj" fmla="val 3413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966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62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29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PasswordHash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96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779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TrackId?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IsActive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346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960120"/>
            <a:ext cx="2697480" cy="2395728"/>
          </a:xfrm>
          <a:prstGeom prst="roundRect">
            <a:avLst>
              <a:gd name="adj" fmla="val 381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9966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362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37560" y="1645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1929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SupervisorId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2496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CertKPI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2779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FreelanceKPI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960120"/>
            <a:ext cx="2697480" cy="2962656"/>
          </a:xfrm>
          <a:prstGeom prst="roundRect">
            <a:avLst>
              <a:gd name="adj" fmla="val 339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0" y="9966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1362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17920" y="1645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TrackId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1929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Code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2496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LecHours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2779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LabHours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SelfHours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3346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GradingMode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630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HasExam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06840" y="960120"/>
            <a:ext cx="2697480" cy="2679192"/>
          </a:xfrm>
          <a:prstGeom prst="roundRect">
            <a:avLst>
              <a:gd name="adj" fmla="val 3413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098280" y="9966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98280" y="13624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098280" y="1645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098280" y="1929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CourseId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098280" y="22128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LabGrade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9098280" y="2496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ExamGrade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098280" y="2779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09828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IsPublished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98280" y="33467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PublishedAt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657600"/>
            <a:ext cx="2697480" cy="2395728"/>
          </a:xfrm>
          <a:prstGeom prst="roundRect">
            <a:avLst>
              <a:gd name="adj" fmla="val 3817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36941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059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4343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StudentId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626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CourseId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910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5193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5477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IsAbsent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5760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RecordedBy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46120" y="3657600"/>
            <a:ext cx="2697480" cy="2112264"/>
          </a:xfrm>
          <a:prstGeom prst="roundRect">
            <a:avLst>
              <a:gd name="adj" fmla="val 4329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3337560" y="36941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AbsenceRequests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337560" y="4059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337560" y="4343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StudentId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337560" y="4626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DatesJson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337560" y="4910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Reason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337560" y="5193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337560" y="5477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SupervisorId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26480" y="3657600"/>
            <a:ext cx="2697480" cy="2395728"/>
          </a:xfrm>
          <a:prstGeom prst="roundRect">
            <a:avLst>
              <a:gd name="adj" fmla="val 3817"/>
            </a:avLst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217920" y="36941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4059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217920" y="4343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CourseId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217920" y="4626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217920" y="4910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217920" y="5193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Link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217920" y="5477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IsPublished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217920" y="5760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TargetStudentsJson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006840" y="3657600"/>
            <a:ext cx="2697480" cy="2679192"/>
          </a:xfrm>
          <a:prstGeom prst="roundRect">
            <a:avLst>
              <a:gd name="adj" fmla="val 3413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9098280" y="369417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098280" y="405993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9098280" y="4343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StudentId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098280" y="46268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098280" y="491032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098280" y="51937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FileUrl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098280" y="54772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098280" y="57607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ApprovedBy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098280" y="60441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SubmittedAt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65760" y="5989320"/>
            <a:ext cx="2697480" cy="2112264"/>
          </a:xfrm>
          <a:prstGeom prst="roundRect">
            <a:avLst>
              <a:gd name="adj" fmla="val 4329"/>
            </a:avLst>
          </a:prstGeom>
          <a:solidFill>
            <a:srgbClr val="F3E5F5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457200" y="6025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457200" y="63916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57200" y="6675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UserId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457200" y="6958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Title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457200" y="72420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Body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457200" y="7525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IsRead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457200" y="78089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CreatedAt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246120" y="5989320"/>
            <a:ext cx="2697480" cy="978408"/>
          </a:xfrm>
          <a:prstGeom prst="roundRect">
            <a:avLst>
              <a:gd name="adj" fmla="val 9346"/>
            </a:avLst>
          </a:prstGeom>
          <a:solidFill>
            <a:srgbClr val="E3F2FD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3337560" y="6025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TrackTAs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3337560" y="63916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TrackId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3337560" y="6675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UserId (TA)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126480" y="5989320"/>
            <a:ext cx="2697480" cy="1261872"/>
          </a:xfrm>
          <a:prstGeom prst="roundRect">
            <a:avLst>
              <a:gd name="adj" fmla="val 7246"/>
            </a:avLst>
          </a:prstGeom>
          <a:solidFill>
            <a:srgbClr val="E0F2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6217920" y="60258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CourseInstructors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6217920" y="639165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CourseId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6217920" y="66751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InstructorName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6217920" y="6958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IsMain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BACKEND + ANGULAR FRONTEND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(.NET)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141732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endpoints, versioned routes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47672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476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19476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Code-first migrations, SQL 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780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Identity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4780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management, role claims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0837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3008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token, refresh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538728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387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35387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repos + unit of 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0690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AutoMapper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63240" y="40690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↔ Entity mapping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599432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5994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63240" y="45994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5129784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51297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SignalR (optional)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5129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660136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6601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Storage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63240" y="56601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for KPI proofs, certificates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96012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(ANGULAR 17+)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0" y="1417320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14173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Components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915400" y="14173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NgModule, self-contained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1947672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37" name="Text 35"/>
          <p:cNvSpPr/>
          <p:nvPr/>
        </p:nvSpPr>
        <p:spPr>
          <a:xfrm>
            <a:off x="6355080" y="19476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915400" y="19476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management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478024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24780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Routes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915400" y="24780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loadComponent() per route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3008376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00837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inject() pattern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915400" y="300837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injection in functions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3538728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35387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35387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for JWT headers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069080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40690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915400" y="406908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canActivate per role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17920" y="4599432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52" name="Text 50"/>
          <p:cNvSpPr/>
          <p:nvPr/>
        </p:nvSpPr>
        <p:spPr>
          <a:xfrm>
            <a:off x="6355080" y="45994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915400" y="459943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FormBuilder, validators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17920" y="5129784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CEFF1"/>
          </a:solidFill>
          <a:ln/>
        </p:spPr>
      </p:sp>
      <p:sp>
        <p:nvSpPr>
          <p:cNvPr id="55" name="Text 53"/>
          <p:cNvSpPr/>
          <p:nvPr/>
        </p:nvSpPr>
        <p:spPr>
          <a:xfrm>
            <a:off x="6355080" y="512978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915400" y="512978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library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17920" y="5660136"/>
            <a:ext cx="5486400" cy="420624"/>
          </a:xfrm>
          <a:prstGeom prst="roundRect">
            <a:avLst>
              <a:gd name="adj" fmla="val 17391"/>
            </a:avLst>
          </a:prstGeom>
          <a:solidFill>
            <a:srgbClr val="E3F2FD"/>
          </a:solidFill>
          <a:ln/>
        </p:spPr>
      </p:sp>
      <p:sp>
        <p:nvSpPr>
          <p:cNvPr id="58" name="Text 56"/>
          <p:cNvSpPr/>
          <p:nvPr/>
        </p:nvSpPr>
        <p:spPr>
          <a:xfrm>
            <a:off x="6355080" y="56601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915400" y="566013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ngx-file-upload for KPI proofs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SITEMAP — PAGES &amp; NAVIGATION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546E7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80160"/>
            <a:ext cx="3611880" cy="137160"/>
          </a:xfrm>
          <a:prstGeom prst="rect">
            <a:avLst/>
          </a:prstGeom>
          <a:solidFill>
            <a:srgbClr val="546E7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96012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90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Login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37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Forgot Password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Reset Password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96012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960120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1A237E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280160"/>
            <a:ext cx="3611880" cy="1371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14" name="Text 12"/>
          <p:cNvSpPr/>
          <p:nvPr/>
        </p:nvSpPr>
        <p:spPr>
          <a:xfrm>
            <a:off x="4315968" y="96012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MANAGER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1490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Dashboard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1837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All Tracks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0" y="21854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All Courses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0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Users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2880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Grades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0" y="3227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KPIs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35753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Reports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3922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Settings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0" y="960120"/>
            <a:ext cx="36118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0" y="960120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1565C0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1280160"/>
            <a:ext cx="3611880" cy="1371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8156448" y="96012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38160" y="14904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Dashboard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138160" y="1837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My Track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38160" y="218541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My Courses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38160" y="25328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Enter Grades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38160" y="28803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Exam Mgmt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38160" y="3227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Absence Log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5753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KPI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138160" y="3922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Absence Requests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840480"/>
            <a:ext cx="36118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840480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00695C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" y="4160520"/>
            <a:ext cx="3611880" cy="1371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" y="38404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ASSISTANT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370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Dashboard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7183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My Courses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5065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Lab Grades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5413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Attendance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5760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Notifications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206240" y="3840480"/>
            <a:ext cx="361188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06240" y="3840480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6A1B9A"/>
          </a:solidFill>
          <a:ln/>
        </p:spPr>
      </p:sp>
      <p:sp>
        <p:nvSpPr>
          <p:cNvPr id="46" name="Shape 44"/>
          <p:cNvSpPr/>
          <p:nvPr/>
        </p:nvSpPr>
        <p:spPr>
          <a:xfrm>
            <a:off x="4206240" y="4160520"/>
            <a:ext cx="3611880" cy="1371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7" name="Text 45"/>
          <p:cNvSpPr/>
          <p:nvPr/>
        </p:nvSpPr>
        <p:spPr>
          <a:xfrm>
            <a:off x="4315968" y="38404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297680" y="4370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Dashboard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297680" y="47183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Student Search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297680" y="5065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Student Profile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297680" y="5413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Course Table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297680" y="5760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Absence Report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297680" y="6108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KPI Status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46720" y="384048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046720" y="3840480"/>
            <a:ext cx="3611880" cy="4572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/>
        </p:spPr>
      </p:sp>
      <p:sp>
        <p:nvSpPr>
          <p:cNvPr id="56" name="Shape 54"/>
          <p:cNvSpPr/>
          <p:nvPr/>
        </p:nvSpPr>
        <p:spPr>
          <a:xfrm>
            <a:off x="8046720" y="4160520"/>
            <a:ext cx="3611880" cy="1371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7" name="Text 55"/>
          <p:cNvSpPr/>
          <p:nvPr/>
        </p:nvSpPr>
        <p:spPr>
          <a:xfrm>
            <a:off x="8156448" y="38404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38160" y="43708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Dashboard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138160" y="47183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My Courses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138160" y="50657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Grades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138160" y="541324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Attendance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138160" y="5760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Notifications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138160" y="6108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Absence Request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138160" y="64556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Certificate KPI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138160" y="68031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Freelance KPI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138160" y="7150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▸  My Profile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1247120" cy="0"/>
          </a:xfrm>
          <a:prstGeom prst="line">
            <a:avLst/>
          </a:prstGeom>
          <a:noFill/>
          <a:ln w="19050">
            <a:solidFill>
              <a:srgbClr val="42A5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1A237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78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828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system (register, login, JWT, roles)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7919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791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 + ASP.NET Identity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2958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5295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routing + route guards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4379976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437997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UI layout per role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523036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52303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&amp; Courses CRUD (Supervisor)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9601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978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5176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1828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828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module (supervisor + TA lab grades)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51760" y="267919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26791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Publish/unpublish grades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352958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0" y="35295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recording (TA + Supervisor)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51760" y="4379976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0" y="437997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view: courses, grades, attendance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523036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0" y="52303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grading mode configuration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9601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978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&amp; KPIs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1828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1828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request flow (student → supervisor)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67919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29200" y="26791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KPI submission + approval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937760" y="352958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0" y="35295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KPI with file upload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4379976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0" y="437997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Affairs: student profiles + absence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523036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0" y="52303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status visibility per role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9601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0" y="978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22376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Exams &amp; Notifications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23760" y="1828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315200" y="1828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scheduling (date, link, location)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223760" y="267919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15200" y="26791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exam with targeted students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23760" y="352958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315200" y="35295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 (portal inbox)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23760" y="4379976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315200" y="437997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alerts to enrolled students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223760" y="523036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315200" y="52303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&amp; KPI approval notifications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509760" y="9601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/>
        </p:spPr>
      </p:sp>
      <p:sp>
        <p:nvSpPr>
          <p:cNvPr id="57" name="Text 55"/>
          <p:cNvSpPr/>
          <p:nvPr/>
        </p:nvSpPr>
        <p:spPr>
          <a:xfrm>
            <a:off x="9509760" y="9784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50976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Polish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509760" y="1828800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601200" y="18288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Manager: full override access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509760" y="2679192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601200" y="26791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 dashboard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509760" y="3529584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9601200" y="3529584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(create/edit/deactivate)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509760" y="4379976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601200" y="4379976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 UI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9509760" y="5230368"/>
            <a:ext cx="210312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9601200" y="5230368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security audit, UAT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0"/>
            <a:ext cx="8961120" cy="6858000"/>
          </a:xfrm>
          <a:prstGeom prst="rect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SUMMARY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828800" y="1828800"/>
            <a:ext cx="8503920" cy="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 roles: Training Manager · Supervisor · Teacher Assistant · Student Affairs · Student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Tracks owned by 1 Supervisor  ·  Multiple courses, TAs, instructors per track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19125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Grading: supervisor publishes; TA adds lab grades; student views on publish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5818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Attendance: online + offline; student pre-requests; supervisor approves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32511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KPIs: Certificate + Freelance with file upload; supervisor approval; SA views status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Exams: date + optional link; corrective for specific students; notification inbox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545896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Stack: ASP.NET Core · EF Core · JWT RBAC · Angular 17+ Standalone + Signals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5989320"/>
            <a:ext cx="4846320" cy="594360"/>
          </a:xfrm>
          <a:prstGeom prst="roundRect">
            <a:avLst>
              <a:gd name="adj" fmla="val 18462"/>
            </a:avLst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598932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BRANCH PORTAL  ·  Blueprint v1.0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 Branch Portal – System Blueprint</dc:title>
  <dc:subject>PptxGenJS Presentation</dc:subject>
  <dc:creator>ITI System Design</dc:creator>
  <cp:lastModifiedBy>ITI System Design</cp:lastModifiedBy>
  <cp:revision>1</cp:revision>
  <dcterms:created xsi:type="dcterms:W3CDTF">2026-06-25T13:18:11Z</dcterms:created>
  <dcterms:modified xsi:type="dcterms:W3CDTF">2026-06-25T13:18:11Z</dcterms:modified>
</cp:coreProperties>
</file>